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6/10/2026</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6/10/2026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6/10/2026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6/10/2026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6/10/2026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6/10/2026</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8"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C5D60-2FC8-3CD3-F78C-681BC443960D}"/>
              </a:ext>
            </a:extLst>
          </p:cNvPr>
          <p:cNvSpPr>
            <a:spLocks noGrp="1"/>
          </p:cNvSpPr>
          <p:nvPr>
            <p:ph type="ctrTitle"/>
          </p:nvPr>
        </p:nvSpPr>
        <p:spPr/>
        <p:txBody>
          <a:bodyPr/>
          <a:lstStyle/>
          <a:p>
            <a:r>
              <a:rPr lang="en-IN" b="1" dirty="0"/>
              <a:t>U.S. AIRLINE PERFORMANCE &amp; DELAY ANALYSIS</a:t>
            </a:r>
          </a:p>
        </p:txBody>
      </p:sp>
      <p:sp>
        <p:nvSpPr>
          <p:cNvPr id="3" name="Subtitle 2">
            <a:extLst>
              <a:ext uri="{FF2B5EF4-FFF2-40B4-BE49-F238E27FC236}">
                <a16:creationId xmlns:a16="http://schemas.microsoft.com/office/drawing/2014/main" id="{D5F97A71-B9AD-84C8-587B-27FF44D0EEA3}"/>
              </a:ext>
            </a:extLst>
          </p:cNvPr>
          <p:cNvSpPr>
            <a:spLocks noGrp="1"/>
          </p:cNvSpPr>
          <p:nvPr>
            <p:ph type="subTitle" idx="1"/>
          </p:nvPr>
        </p:nvSpPr>
        <p:spPr/>
        <p:txBody>
          <a:bodyPr/>
          <a:lstStyle/>
          <a:p>
            <a:r>
              <a:rPr lang="en-IN" b="1" dirty="0"/>
              <a:t>Fly emirates project</a:t>
            </a:r>
          </a:p>
        </p:txBody>
      </p:sp>
      <p:sp>
        <p:nvSpPr>
          <p:cNvPr id="4" name="TextBox 3">
            <a:extLst>
              <a:ext uri="{FF2B5EF4-FFF2-40B4-BE49-F238E27FC236}">
                <a16:creationId xmlns:a16="http://schemas.microsoft.com/office/drawing/2014/main" id="{2810A220-052A-8194-144C-76959EF502C3}"/>
              </a:ext>
            </a:extLst>
          </p:cNvPr>
          <p:cNvSpPr txBox="1"/>
          <p:nvPr/>
        </p:nvSpPr>
        <p:spPr>
          <a:xfrm>
            <a:off x="10186219" y="6282812"/>
            <a:ext cx="1778051" cy="338554"/>
          </a:xfrm>
          <a:prstGeom prst="rect">
            <a:avLst/>
          </a:prstGeom>
          <a:noFill/>
        </p:spPr>
        <p:txBody>
          <a:bodyPr wrap="none" rtlCol="0">
            <a:spAutoFit/>
          </a:bodyPr>
          <a:lstStyle/>
          <a:p>
            <a:r>
              <a:rPr lang="en-IN" sz="1600" b="1" dirty="0"/>
              <a:t>By - Peritosh Sinha</a:t>
            </a:r>
          </a:p>
        </p:txBody>
      </p:sp>
    </p:spTree>
    <p:extLst>
      <p:ext uri="{BB962C8B-B14F-4D97-AF65-F5344CB8AC3E}">
        <p14:creationId xmlns:p14="http://schemas.microsoft.com/office/powerpoint/2010/main" val="261233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D361B-F4A3-19C4-E21B-3188FACF2061}"/>
              </a:ext>
            </a:extLst>
          </p:cNvPr>
          <p:cNvSpPr>
            <a:spLocks noGrp="1"/>
          </p:cNvSpPr>
          <p:nvPr>
            <p:ph type="title"/>
          </p:nvPr>
        </p:nvSpPr>
        <p:spPr/>
        <p:txBody>
          <a:bodyPr/>
          <a:lstStyle/>
          <a:p>
            <a:r>
              <a:rPr lang="en-IN" b="1" u="sng" dirty="0"/>
              <a:t>INTRODUCTION</a:t>
            </a:r>
          </a:p>
        </p:txBody>
      </p:sp>
      <p:sp>
        <p:nvSpPr>
          <p:cNvPr id="3" name="Content Placeholder 2">
            <a:extLst>
              <a:ext uri="{FF2B5EF4-FFF2-40B4-BE49-F238E27FC236}">
                <a16:creationId xmlns:a16="http://schemas.microsoft.com/office/drawing/2014/main" id="{FAF1BFEF-E3C7-632B-2985-5898DC9E12BE}"/>
              </a:ext>
            </a:extLst>
          </p:cNvPr>
          <p:cNvSpPr>
            <a:spLocks noGrp="1"/>
          </p:cNvSpPr>
          <p:nvPr>
            <p:ph idx="1"/>
          </p:nvPr>
        </p:nvSpPr>
        <p:spPr>
          <a:xfrm>
            <a:off x="685801" y="1729113"/>
            <a:ext cx="10131425" cy="1535198"/>
          </a:xfrm>
        </p:spPr>
        <p:txBody>
          <a:bodyPr/>
          <a:lstStyle/>
          <a:p>
            <a:pPr marL="0" indent="0">
              <a:buNone/>
            </a:pPr>
            <a:r>
              <a:rPr lang="en-IN" dirty="0"/>
              <a:t>The aviation industry generates large volumes of operational data every day. Flight delays and cancellations affect customer satisfaction, airline performance, and airport operations.</a:t>
            </a:r>
          </a:p>
          <a:p>
            <a:pPr marL="0" indent="0">
              <a:buNone/>
            </a:pPr>
            <a:r>
              <a:rPr lang="en-IN" dirty="0"/>
              <a:t>This project analyzes over 5.8 million U.S. domestic flight records to identify delay patterns, cancellation trends, airline performance, airport performance, and operational inefficiencies.</a:t>
            </a:r>
          </a:p>
          <a:p>
            <a:endParaRPr lang="en-IN" dirty="0"/>
          </a:p>
        </p:txBody>
      </p:sp>
      <p:sp>
        <p:nvSpPr>
          <p:cNvPr id="4" name="Content Placeholder 2">
            <a:extLst>
              <a:ext uri="{FF2B5EF4-FFF2-40B4-BE49-F238E27FC236}">
                <a16:creationId xmlns:a16="http://schemas.microsoft.com/office/drawing/2014/main" id="{0D45E8E9-7C86-33CC-22B0-E4663F26F2F2}"/>
              </a:ext>
            </a:extLst>
          </p:cNvPr>
          <p:cNvSpPr txBox="1">
            <a:spLocks/>
          </p:cNvSpPr>
          <p:nvPr/>
        </p:nvSpPr>
        <p:spPr>
          <a:xfrm>
            <a:off x="685801" y="2873477"/>
            <a:ext cx="10131425" cy="2706329"/>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IN" b="1" u="sng" dirty="0"/>
              <a:t>Objectives:</a:t>
            </a:r>
          </a:p>
          <a:p>
            <a:pPr marL="0" indent="0">
              <a:buNone/>
            </a:pPr>
            <a:br>
              <a:rPr lang="en-IN" dirty="0"/>
            </a:br>
            <a:r>
              <a:rPr lang="en-IN" dirty="0"/>
              <a:t>• Analyze flight delays and cancellations</a:t>
            </a:r>
            <a:br>
              <a:rPr lang="en-IN" dirty="0"/>
            </a:br>
            <a:r>
              <a:rPr lang="en-IN" dirty="0"/>
              <a:t>• Evaluate airline performance</a:t>
            </a:r>
            <a:br>
              <a:rPr lang="en-IN" dirty="0"/>
            </a:br>
            <a:r>
              <a:rPr lang="en-IN" dirty="0"/>
              <a:t>• Evaluate airport performance</a:t>
            </a:r>
            <a:br>
              <a:rPr lang="en-IN" dirty="0"/>
            </a:br>
            <a:r>
              <a:rPr lang="en-IN" dirty="0"/>
              <a:t>• Identify major delay causes</a:t>
            </a:r>
            <a:br>
              <a:rPr lang="en-IN" dirty="0"/>
            </a:br>
            <a:r>
              <a:rPr lang="en-IN" dirty="0"/>
              <a:t>• Generate business insights using Power BI</a:t>
            </a:r>
          </a:p>
        </p:txBody>
      </p:sp>
    </p:spTree>
    <p:extLst>
      <p:ext uri="{BB962C8B-B14F-4D97-AF65-F5344CB8AC3E}">
        <p14:creationId xmlns:p14="http://schemas.microsoft.com/office/powerpoint/2010/main" val="19574786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CEBA8-B750-FACD-CB9C-65C97CE2C8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A0D9E2-61ED-A2B6-E4FE-B9978E9E753D}"/>
              </a:ext>
            </a:extLst>
          </p:cNvPr>
          <p:cNvSpPr>
            <a:spLocks noGrp="1"/>
          </p:cNvSpPr>
          <p:nvPr>
            <p:ph type="title"/>
          </p:nvPr>
        </p:nvSpPr>
        <p:spPr/>
        <p:txBody>
          <a:bodyPr/>
          <a:lstStyle/>
          <a:p>
            <a:r>
              <a:rPr lang="en-IN" b="1" u="sng" dirty="0"/>
              <a:t>DATASET OVERVIEW</a:t>
            </a:r>
          </a:p>
        </p:txBody>
      </p:sp>
      <p:sp>
        <p:nvSpPr>
          <p:cNvPr id="3" name="Content Placeholder 2">
            <a:extLst>
              <a:ext uri="{FF2B5EF4-FFF2-40B4-BE49-F238E27FC236}">
                <a16:creationId xmlns:a16="http://schemas.microsoft.com/office/drawing/2014/main" id="{12D20900-7EDC-F25C-E3CB-20D1293BA97E}"/>
              </a:ext>
            </a:extLst>
          </p:cNvPr>
          <p:cNvSpPr>
            <a:spLocks noGrp="1"/>
          </p:cNvSpPr>
          <p:nvPr>
            <p:ph idx="1"/>
          </p:nvPr>
        </p:nvSpPr>
        <p:spPr>
          <a:xfrm>
            <a:off x="685801" y="1729113"/>
            <a:ext cx="10131425" cy="1535198"/>
          </a:xfrm>
        </p:spPr>
        <p:txBody>
          <a:bodyPr/>
          <a:lstStyle/>
          <a:p>
            <a:pPr marL="0" indent="0">
              <a:buNone/>
            </a:pPr>
            <a:r>
              <a:rPr lang="en-IN" b="1" u="sng" dirty="0"/>
              <a:t>Datasets Used</a:t>
            </a:r>
            <a:r>
              <a:rPr lang="en-IN" b="1" dirty="0"/>
              <a:t>:</a:t>
            </a:r>
          </a:p>
          <a:p>
            <a:pPr marL="0" indent="0">
              <a:buNone/>
            </a:pPr>
            <a:r>
              <a:rPr lang="en-IN" dirty="0"/>
              <a:t>	• Flights Dataset</a:t>
            </a:r>
            <a:br>
              <a:rPr lang="en-IN" dirty="0"/>
            </a:br>
            <a:r>
              <a:rPr lang="en-IN" dirty="0"/>
              <a:t>	• Airlines Dataset</a:t>
            </a:r>
            <a:br>
              <a:rPr lang="en-IN" dirty="0"/>
            </a:br>
            <a:r>
              <a:rPr lang="en-IN" dirty="0"/>
              <a:t>	• Airports Dataset</a:t>
            </a:r>
          </a:p>
        </p:txBody>
      </p:sp>
      <p:sp>
        <p:nvSpPr>
          <p:cNvPr id="4" name="Content Placeholder 2">
            <a:extLst>
              <a:ext uri="{FF2B5EF4-FFF2-40B4-BE49-F238E27FC236}">
                <a16:creationId xmlns:a16="http://schemas.microsoft.com/office/drawing/2014/main" id="{77C6B159-0961-DAF7-22D5-09D49DB53A74}"/>
              </a:ext>
            </a:extLst>
          </p:cNvPr>
          <p:cNvSpPr txBox="1">
            <a:spLocks/>
          </p:cNvSpPr>
          <p:nvPr/>
        </p:nvSpPr>
        <p:spPr>
          <a:xfrm>
            <a:off x="685801" y="2873477"/>
            <a:ext cx="10131425" cy="2706329"/>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IN" b="1" u="sng" dirty="0"/>
              <a:t>Dataset Statistics:</a:t>
            </a:r>
          </a:p>
          <a:p>
            <a:pPr marL="0" indent="0">
              <a:buNone/>
            </a:pPr>
            <a:r>
              <a:rPr lang="en-IN" dirty="0"/>
              <a:t>	• Total Flights: 5,819,079</a:t>
            </a:r>
            <a:br>
              <a:rPr lang="en-IN" dirty="0"/>
            </a:br>
            <a:r>
              <a:rPr lang="en-IN" dirty="0"/>
              <a:t>	• Airlines: 14</a:t>
            </a:r>
            <a:br>
              <a:rPr lang="en-IN" dirty="0"/>
            </a:br>
            <a:r>
              <a:rPr lang="en-IN" dirty="0"/>
              <a:t>	• Airports: 322</a:t>
            </a:r>
          </a:p>
          <a:p>
            <a:pPr marL="0" indent="0">
              <a:buNone/>
            </a:pPr>
            <a:endParaRPr lang="en-IN" dirty="0"/>
          </a:p>
        </p:txBody>
      </p:sp>
    </p:spTree>
    <p:extLst>
      <p:ext uri="{BB962C8B-B14F-4D97-AF65-F5344CB8AC3E}">
        <p14:creationId xmlns:p14="http://schemas.microsoft.com/office/powerpoint/2010/main" val="3762286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44812-A132-0A7D-289B-A924D2C630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4F2602-518B-1749-BB7D-DAFD9DE4CE0C}"/>
              </a:ext>
            </a:extLst>
          </p:cNvPr>
          <p:cNvSpPr>
            <a:spLocks noGrp="1"/>
          </p:cNvSpPr>
          <p:nvPr>
            <p:ph type="title"/>
          </p:nvPr>
        </p:nvSpPr>
        <p:spPr/>
        <p:txBody>
          <a:bodyPr/>
          <a:lstStyle/>
          <a:p>
            <a:r>
              <a:rPr lang="en-IN" b="1" u="sng" dirty="0"/>
              <a:t>TOOLS &amp; METHODOLOGY</a:t>
            </a:r>
            <a:br>
              <a:rPr lang="en-IN" b="1" u="sng" dirty="0"/>
            </a:br>
            <a:endParaRPr lang="en-IN" b="1" u="sng" dirty="0"/>
          </a:p>
        </p:txBody>
      </p:sp>
      <p:sp>
        <p:nvSpPr>
          <p:cNvPr id="3" name="Content Placeholder 2">
            <a:extLst>
              <a:ext uri="{FF2B5EF4-FFF2-40B4-BE49-F238E27FC236}">
                <a16:creationId xmlns:a16="http://schemas.microsoft.com/office/drawing/2014/main" id="{2B1F74AC-A503-6D62-7E30-EC2ABAF7B778}"/>
              </a:ext>
            </a:extLst>
          </p:cNvPr>
          <p:cNvSpPr>
            <a:spLocks noGrp="1"/>
          </p:cNvSpPr>
          <p:nvPr>
            <p:ph idx="1"/>
          </p:nvPr>
        </p:nvSpPr>
        <p:spPr>
          <a:xfrm>
            <a:off x="685801" y="1729113"/>
            <a:ext cx="10131425" cy="1535198"/>
          </a:xfrm>
        </p:spPr>
        <p:txBody>
          <a:bodyPr>
            <a:normAutofit lnSpcReduction="10000"/>
          </a:bodyPr>
          <a:lstStyle/>
          <a:p>
            <a:pPr marL="0" indent="0">
              <a:buNone/>
            </a:pPr>
            <a:r>
              <a:rPr lang="en-IN" b="1" u="sng" dirty="0"/>
              <a:t>Tools Used:</a:t>
            </a:r>
          </a:p>
          <a:p>
            <a:pPr marL="0" indent="0">
              <a:buNone/>
            </a:pPr>
            <a:r>
              <a:rPr lang="en-IN" dirty="0"/>
              <a:t>	• MySQL</a:t>
            </a:r>
            <a:br>
              <a:rPr lang="en-IN" dirty="0"/>
            </a:br>
            <a:r>
              <a:rPr lang="en-IN" dirty="0"/>
              <a:t>	• SQL</a:t>
            </a:r>
            <a:br>
              <a:rPr lang="en-IN" dirty="0"/>
            </a:br>
            <a:r>
              <a:rPr lang="en-IN" dirty="0"/>
              <a:t>	• MySQL Workbench</a:t>
            </a:r>
            <a:br>
              <a:rPr lang="en-IN" dirty="0"/>
            </a:br>
            <a:r>
              <a:rPr lang="en-IN" dirty="0"/>
              <a:t>	• Power BI</a:t>
            </a:r>
          </a:p>
        </p:txBody>
      </p:sp>
      <p:sp>
        <p:nvSpPr>
          <p:cNvPr id="4" name="Content Placeholder 2">
            <a:extLst>
              <a:ext uri="{FF2B5EF4-FFF2-40B4-BE49-F238E27FC236}">
                <a16:creationId xmlns:a16="http://schemas.microsoft.com/office/drawing/2014/main" id="{012F59E8-AC72-FA02-9DDF-3A793EAC8B97}"/>
              </a:ext>
            </a:extLst>
          </p:cNvPr>
          <p:cNvSpPr txBox="1">
            <a:spLocks/>
          </p:cNvSpPr>
          <p:nvPr/>
        </p:nvSpPr>
        <p:spPr>
          <a:xfrm>
            <a:off x="685801" y="2873477"/>
            <a:ext cx="10131425" cy="2706329"/>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IN" b="1" u="sng" dirty="0"/>
              <a:t>Data Preparation:</a:t>
            </a:r>
          </a:p>
          <a:p>
            <a:pPr marL="0" indent="0">
              <a:buNone/>
            </a:pPr>
            <a:r>
              <a:rPr lang="en-IN" dirty="0"/>
              <a:t>	• Missing Value Handling</a:t>
            </a:r>
            <a:br>
              <a:rPr lang="en-IN" dirty="0"/>
            </a:br>
            <a:r>
              <a:rPr lang="en-IN" dirty="0"/>
              <a:t>	• Flight Date Creation</a:t>
            </a:r>
            <a:br>
              <a:rPr lang="en-IN" dirty="0"/>
            </a:br>
            <a:r>
              <a:rPr lang="en-IN" dirty="0"/>
              <a:t>	• Cancellation Reason Mapping</a:t>
            </a:r>
            <a:br>
              <a:rPr lang="en-IN" dirty="0"/>
            </a:br>
            <a:r>
              <a:rPr lang="en-IN" dirty="0"/>
              <a:t>	• Data Integration</a:t>
            </a:r>
          </a:p>
          <a:p>
            <a:pPr marL="0" indent="0">
              <a:buNone/>
            </a:pPr>
            <a:endParaRPr lang="en-IN" dirty="0"/>
          </a:p>
        </p:txBody>
      </p:sp>
      <p:sp>
        <p:nvSpPr>
          <p:cNvPr id="6" name="TextBox 5">
            <a:extLst>
              <a:ext uri="{FF2B5EF4-FFF2-40B4-BE49-F238E27FC236}">
                <a16:creationId xmlns:a16="http://schemas.microsoft.com/office/drawing/2014/main" id="{0F26DB2E-C229-0260-D6A6-DCFF85A936C9}"/>
              </a:ext>
            </a:extLst>
          </p:cNvPr>
          <p:cNvSpPr txBox="1"/>
          <p:nvPr/>
        </p:nvSpPr>
        <p:spPr>
          <a:xfrm>
            <a:off x="5909187" y="1729113"/>
            <a:ext cx="6096000" cy="3693319"/>
          </a:xfrm>
          <a:prstGeom prst="rect">
            <a:avLst/>
          </a:prstGeom>
          <a:noFill/>
        </p:spPr>
        <p:txBody>
          <a:bodyPr wrap="square">
            <a:spAutoFit/>
          </a:bodyPr>
          <a:lstStyle/>
          <a:p>
            <a:pPr>
              <a:buNone/>
            </a:pPr>
            <a:r>
              <a:rPr lang="en-IN" b="1" u="sng" dirty="0"/>
              <a:t>Project Workflow:</a:t>
            </a:r>
          </a:p>
          <a:p>
            <a:pPr>
              <a:buNone/>
            </a:pPr>
            <a:r>
              <a:rPr lang="en-IN" dirty="0"/>
              <a:t>	</a:t>
            </a:r>
          </a:p>
          <a:p>
            <a:pPr>
              <a:buNone/>
            </a:pPr>
            <a:r>
              <a:rPr lang="en-IN" dirty="0"/>
              <a:t>CSV Files</a:t>
            </a:r>
            <a:br>
              <a:rPr lang="en-IN" dirty="0"/>
            </a:br>
            <a:r>
              <a:rPr lang="en-IN" dirty="0"/>
              <a:t>	↓</a:t>
            </a:r>
            <a:br>
              <a:rPr lang="en-IN" dirty="0"/>
            </a:br>
            <a:r>
              <a:rPr lang="en-IN" dirty="0"/>
              <a:t>	MySQL Database</a:t>
            </a:r>
            <a:br>
              <a:rPr lang="en-IN" dirty="0"/>
            </a:br>
            <a:r>
              <a:rPr lang="en-IN" dirty="0"/>
              <a:t>		↓</a:t>
            </a:r>
            <a:br>
              <a:rPr lang="en-IN" dirty="0"/>
            </a:br>
            <a:r>
              <a:rPr lang="en-IN" dirty="0"/>
              <a:t>		Data Cleaning &amp; Transformation</a:t>
            </a:r>
            <a:br>
              <a:rPr lang="en-IN" dirty="0"/>
            </a:br>
            <a:r>
              <a:rPr lang="en-IN" dirty="0"/>
              <a:t>			↓</a:t>
            </a:r>
            <a:br>
              <a:rPr lang="en-IN" dirty="0"/>
            </a:br>
            <a:r>
              <a:rPr lang="en-IN" dirty="0"/>
              <a:t>			SQL Analysis</a:t>
            </a:r>
            <a:br>
              <a:rPr lang="en-IN" dirty="0"/>
            </a:br>
            <a:r>
              <a:rPr lang="en-IN" dirty="0"/>
              <a:t>				↓</a:t>
            </a:r>
            <a:br>
              <a:rPr lang="en-IN" dirty="0"/>
            </a:br>
            <a:r>
              <a:rPr lang="en-IN" dirty="0"/>
              <a:t>				Power BI Dashboard</a:t>
            </a:r>
            <a:br>
              <a:rPr lang="en-IN" dirty="0"/>
            </a:br>
            <a:r>
              <a:rPr lang="en-IN" dirty="0"/>
              <a:t>					↓</a:t>
            </a:r>
            <a:br>
              <a:rPr lang="en-IN" dirty="0"/>
            </a:br>
            <a:r>
              <a:rPr lang="en-IN" dirty="0"/>
              <a:t>					Business Insights</a:t>
            </a:r>
          </a:p>
        </p:txBody>
      </p:sp>
    </p:spTree>
    <p:extLst>
      <p:ext uri="{BB962C8B-B14F-4D97-AF65-F5344CB8AC3E}">
        <p14:creationId xmlns:p14="http://schemas.microsoft.com/office/powerpoint/2010/main" val="6086125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BAF74-AE06-4457-E150-9CD9577EE2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225FFF-B5E4-342A-2E7E-C33FEC6A9E60}"/>
              </a:ext>
            </a:extLst>
          </p:cNvPr>
          <p:cNvSpPr>
            <a:spLocks noGrp="1"/>
          </p:cNvSpPr>
          <p:nvPr>
            <p:ph type="title"/>
          </p:nvPr>
        </p:nvSpPr>
        <p:spPr/>
        <p:txBody>
          <a:bodyPr/>
          <a:lstStyle/>
          <a:p>
            <a:r>
              <a:rPr lang="en-IN" b="1" u="sng"/>
              <a:t>DASHBOARD</a:t>
            </a:r>
            <a:endParaRPr lang="en-IN" b="1" u="sng" dirty="0"/>
          </a:p>
        </p:txBody>
      </p:sp>
      <p:pic>
        <p:nvPicPr>
          <p:cNvPr id="9" name="Picture 8">
            <a:extLst>
              <a:ext uri="{FF2B5EF4-FFF2-40B4-BE49-F238E27FC236}">
                <a16:creationId xmlns:a16="http://schemas.microsoft.com/office/drawing/2014/main" id="{B7CD93CF-1E89-61E5-A9AE-44676A713870}"/>
              </a:ext>
            </a:extLst>
          </p:cNvPr>
          <p:cNvPicPr>
            <a:picLocks noChangeAspect="1"/>
          </p:cNvPicPr>
          <p:nvPr/>
        </p:nvPicPr>
        <p:blipFill>
          <a:blip r:embed="rId2"/>
          <a:stretch>
            <a:fillRect/>
          </a:stretch>
        </p:blipFill>
        <p:spPr>
          <a:xfrm>
            <a:off x="714257" y="1787010"/>
            <a:ext cx="5037256" cy="2850127"/>
          </a:xfrm>
          <a:prstGeom prst="rect">
            <a:avLst/>
          </a:prstGeom>
        </p:spPr>
      </p:pic>
      <p:pic>
        <p:nvPicPr>
          <p:cNvPr id="18" name="Picture 17">
            <a:extLst>
              <a:ext uri="{FF2B5EF4-FFF2-40B4-BE49-F238E27FC236}">
                <a16:creationId xmlns:a16="http://schemas.microsoft.com/office/drawing/2014/main" id="{D38BC01C-21C8-96E4-74F8-7EC3BDD1A528}"/>
              </a:ext>
            </a:extLst>
          </p:cNvPr>
          <p:cNvPicPr>
            <a:picLocks noChangeAspect="1"/>
          </p:cNvPicPr>
          <p:nvPr/>
        </p:nvPicPr>
        <p:blipFill>
          <a:blip r:embed="rId3"/>
          <a:srcRect/>
          <a:stretch/>
        </p:blipFill>
        <p:spPr>
          <a:xfrm>
            <a:off x="6331974" y="3582348"/>
            <a:ext cx="5037256" cy="2818735"/>
          </a:xfrm>
          <a:prstGeom prst="rect">
            <a:avLst/>
          </a:prstGeom>
        </p:spPr>
      </p:pic>
    </p:spTree>
    <p:extLst>
      <p:ext uri="{BB962C8B-B14F-4D97-AF65-F5344CB8AC3E}">
        <p14:creationId xmlns:p14="http://schemas.microsoft.com/office/powerpoint/2010/main" val="36310587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0E24C-B4EB-51F5-99EE-72DC75B3C893}"/>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B34CC9C1-72A6-5DB6-1FE9-53C7B069E2F5}"/>
              </a:ext>
            </a:extLst>
          </p:cNvPr>
          <p:cNvPicPr>
            <a:picLocks noChangeAspect="1"/>
          </p:cNvPicPr>
          <p:nvPr/>
        </p:nvPicPr>
        <p:blipFill>
          <a:blip r:embed="rId2"/>
          <a:srcRect/>
          <a:stretch/>
        </p:blipFill>
        <p:spPr>
          <a:xfrm>
            <a:off x="576606" y="328704"/>
            <a:ext cx="5037256" cy="2817061"/>
          </a:xfrm>
          <a:prstGeom prst="rect">
            <a:avLst/>
          </a:prstGeom>
        </p:spPr>
      </p:pic>
      <p:pic>
        <p:nvPicPr>
          <p:cNvPr id="18" name="Picture 17">
            <a:extLst>
              <a:ext uri="{FF2B5EF4-FFF2-40B4-BE49-F238E27FC236}">
                <a16:creationId xmlns:a16="http://schemas.microsoft.com/office/drawing/2014/main" id="{1B02BE7A-6824-9F7E-DAC4-CD55BB585772}"/>
              </a:ext>
            </a:extLst>
          </p:cNvPr>
          <p:cNvPicPr>
            <a:picLocks noChangeAspect="1"/>
          </p:cNvPicPr>
          <p:nvPr/>
        </p:nvPicPr>
        <p:blipFill>
          <a:blip r:embed="rId3"/>
          <a:srcRect/>
          <a:stretch/>
        </p:blipFill>
        <p:spPr>
          <a:xfrm>
            <a:off x="6183739" y="2019632"/>
            <a:ext cx="5019093" cy="2818735"/>
          </a:xfrm>
          <a:prstGeom prst="rect">
            <a:avLst/>
          </a:prstGeom>
        </p:spPr>
      </p:pic>
      <p:pic>
        <p:nvPicPr>
          <p:cNvPr id="5" name="Picture 4">
            <a:extLst>
              <a:ext uri="{FF2B5EF4-FFF2-40B4-BE49-F238E27FC236}">
                <a16:creationId xmlns:a16="http://schemas.microsoft.com/office/drawing/2014/main" id="{91C350C7-9DDE-AD8D-1FCC-03F8B270E8A1}"/>
              </a:ext>
            </a:extLst>
          </p:cNvPr>
          <p:cNvPicPr>
            <a:picLocks noChangeAspect="1"/>
          </p:cNvPicPr>
          <p:nvPr/>
        </p:nvPicPr>
        <p:blipFill>
          <a:blip r:embed="rId4"/>
          <a:srcRect/>
          <a:stretch/>
        </p:blipFill>
        <p:spPr>
          <a:xfrm>
            <a:off x="584205" y="3853348"/>
            <a:ext cx="5022058" cy="2818735"/>
          </a:xfrm>
          <a:prstGeom prst="rect">
            <a:avLst/>
          </a:prstGeom>
        </p:spPr>
      </p:pic>
    </p:spTree>
    <p:extLst>
      <p:ext uri="{BB962C8B-B14F-4D97-AF65-F5344CB8AC3E}">
        <p14:creationId xmlns:p14="http://schemas.microsoft.com/office/powerpoint/2010/main" val="14953669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6A6E4-B7CC-BB37-89E1-9BAE260746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D40012-05F2-0433-2824-7DADA086AD5C}"/>
              </a:ext>
            </a:extLst>
          </p:cNvPr>
          <p:cNvSpPr>
            <a:spLocks noGrp="1"/>
          </p:cNvSpPr>
          <p:nvPr>
            <p:ph type="title"/>
          </p:nvPr>
        </p:nvSpPr>
        <p:spPr/>
        <p:txBody>
          <a:bodyPr/>
          <a:lstStyle/>
          <a:p>
            <a:r>
              <a:rPr lang="en-IN" b="1" u="sng" dirty="0"/>
              <a:t>KEY INSIGHTS</a:t>
            </a:r>
          </a:p>
        </p:txBody>
      </p:sp>
      <p:sp>
        <p:nvSpPr>
          <p:cNvPr id="4" name="Content Placeholder 2">
            <a:extLst>
              <a:ext uri="{FF2B5EF4-FFF2-40B4-BE49-F238E27FC236}">
                <a16:creationId xmlns:a16="http://schemas.microsoft.com/office/drawing/2014/main" id="{3087F487-A2D2-F3E6-F09D-7615C675E2A6}"/>
              </a:ext>
            </a:extLst>
          </p:cNvPr>
          <p:cNvSpPr txBox="1">
            <a:spLocks/>
          </p:cNvSpPr>
          <p:nvPr/>
        </p:nvSpPr>
        <p:spPr>
          <a:xfrm>
            <a:off x="1030287" y="1831257"/>
            <a:ext cx="10131425" cy="3664975"/>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r>
              <a:rPr lang="en-IN" dirty="0"/>
              <a:t>More than 5.8 million flight records were analyzed.</a:t>
            </a:r>
          </a:p>
          <a:p>
            <a:r>
              <a:rPr lang="en-IN" dirty="0"/>
              <a:t>OTP exceeded 80%, indicating strong operational efficiency.</a:t>
            </a:r>
          </a:p>
          <a:p>
            <a:r>
              <a:rPr lang="en-IN" dirty="0"/>
              <a:t>Late Aircraft Delay was one of the largest contributors to overall delays.</a:t>
            </a:r>
          </a:p>
          <a:p>
            <a:r>
              <a:rPr lang="en-IN" dirty="0"/>
              <a:t>Flight cancellations showed seasonal variations across months.</a:t>
            </a:r>
          </a:p>
          <a:p>
            <a:r>
              <a:rPr lang="en-IN" dirty="0"/>
              <a:t>Certain airlines consistently performed better in terms of delays and OTP.</a:t>
            </a:r>
          </a:p>
          <a:p>
            <a:r>
              <a:rPr lang="en-IN" dirty="0"/>
              <a:t>Major airports handled the majority of total flight traffic.</a:t>
            </a:r>
          </a:p>
          <a:p>
            <a:r>
              <a:rPr lang="en-IN" dirty="0"/>
              <a:t>Weather conditions significantly impacted flight operations during specific periods.</a:t>
            </a:r>
          </a:p>
        </p:txBody>
      </p:sp>
    </p:spTree>
    <p:extLst>
      <p:ext uri="{BB962C8B-B14F-4D97-AF65-F5344CB8AC3E}">
        <p14:creationId xmlns:p14="http://schemas.microsoft.com/office/powerpoint/2010/main" val="1867450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950EE-DEFE-E8FB-BDF1-5B69F8CF92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7F18B6-CBF7-3C27-1FF3-ED5B08DA9DFF}"/>
              </a:ext>
            </a:extLst>
          </p:cNvPr>
          <p:cNvSpPr>
            <a:spLocks noGrp="1"/>
          </p:cNvSpPr>
          <p:nvPr>
            <p:ph type="title"/>
          </p:nvPr>
        </p:nvSpPr>
        <p:spPr/>
        <p:txBody>
          <a:bodyPr/>
          <a:lstStyle/>
          <a:p>
            <a:r>
              <a:rPr lang="en-IN" b="1" u="sng" dirty="0"/>
              <a:t>Recommendation </a:t>
            </a:r>
          </a:p>
        </p:txBody>
      </p:sp>
      <p:sp>
        <p:nvSpPr>
          <p:cNvPr id="4" name="Content Placeholder 2">
            <a:extLst>
              <a:ext uri="{FF2B5EF4-FFF2-40B4-BE49-F238E27FC236}">
                <a16:creationId xmlns:a16="http://schemas.microsoft.com/office/drawing/2014/main" id="{7959E13F-B23B-C06F-FBAC-B5E204D5E287}"/>
              </a:ext>
            </a:extLst>
          </p:cNvPr>
          <p:cNvSpPr txBox="1">
            <a:spLocks/>
          </p:cNvSpPr>
          <p:nvPr/>
        </p:nvSpPr>
        <p:spPr>
          <a:xfrm>
            <a:off x="1030287" y="1831258"/>
            <a:ext cx="10131425" cy="2032820"/>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IN" dirty="0"/>
              <a:t>• Improve aircraft turnaround efficiency.</a:t>
            </a:r>
            <a:br>
              <a:rPr lang="en-IN" dirty="0"/>
            </a:br>
            <a:r>
              <a:rPr lang="en-IN" dirty="0"/>
              <a:t>• Enhance weather contingency planning.</a:t>
            </a:r>
            <a:br>
              <a:rPr lang="en-IN" dirty="0"/>
            </a:br>
            <a:r>
              <a:rPr lang="en-IN" dirty="0"/>
              <a:t>• Optimize airport scheduling and resource allocation.</a:t>
            </a:r>
            <a:br>
              <a:rPr lang="en-IN" dirty="0"/>
            </a:br>
            <a:r>
              <a:rPr lang="en-IN" dirty="0"/>
              <a:t>• Monitor airline performance using KPI dashboards.</a:t>
            </a:r>
            <a:br>
              <a:rPr lang="en-IN" dirty="0"/>
            </a:br>
            <a:r>
              <a:rPr lang="en-IN" dirty="0"/>
              <a:t>• Use predictive maintenance to reduce operational disruptions.</a:t>
            </a:r>
          </a:p>
          <a:p>
            <a:endParaRPr lang="en-IN" dirty="0"/>
          </a:p>
        </p:txBody>
      </p:sp>
    </p:spTree>
    <p:extLst>
      <p:ext uri="{BB962C8B-B14F-4D97-AF65-F5344CB8AC3E}">
        <p14:creationId xmlns:p14="http://schemas.microsoft.com/office/powerpoint/2010/main" val="27387612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83253-4625-5A80-9016-463194691C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87AF60-962E-F68F-0E2A-340CD7CAA1F0}"/>
              </a:ext>
            </a:extLst>
          </p:cNvPr>
          <p:cNvSpPr>
            <a:spLocks noGrp="1"/>
          </p:cNvSpPr>
          <p:nvPr>
            <p:ph type="title"/>
          </p:nvPr>
        </p:nvSpPr>
        <p:spPr/>
        <p:txBody>
          <a:bodyPr/>
          <a:lstStyle/>
          <a:p>
            <a:r>
              <a:rPr lang="en-IN" b="1" u="sng" dirty="0"/>
              <a:t>Conclusion </a:t>
            </a:r>
          </a:p>
        </p:txBody>
      </p:sp>
      <p:sp>
        <p:nvSpPr>
          <p:cNvPr id="4" name="Content Placeholder 2">
            <a:extLst>
              <a:ext uri="{FF2B5EF4-FFF2-40B4-BE49-F238E27FC236}">
                <a16:creationId xmlns:a16="http://schemas.microsoft.com/office/drawing/2014/main" id="{A45AAEC4-C12E-0ED3-C4CD-58A8563D96B3}"/>
              </a:ext>
            </a:extLst>
          </p:cNvPr>
          <p:cNvSpPr txBox="1">
            <a:spLocks/>
          </p:cNvSpPr>
          <p:nvPr/>
        </p:nvSpPr>
        <p:spPr>
          <a:xfrm>
            <a:off x="1030287" y="1526458"/>
            <a:ext cx="10131425" cy="2032820"/>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IN" dirty="0"/>
              <a:t>This project successfully analyzed over 5.8 million U.S. domestic flight records using SQL and Power BI. The analysis identified important patterns in delays, cancellations, airline performance, and airport operations. The developed dashboard supports data-driven decision-making and helps improve operational efficiency and passenger satisfaction.</a:t>
            </a:r>
          </a:p>
        </p:txBody>
      </p:sp>
      <p:sp>
        <p:nvSpPr>
          <p:cNvPr id="3" name="Content Placeholder 2">
            <a:extLst>
              <a:ext uri="{FF2B5EF4-FFF2-40B4-BE49-F238E27FC236}">
                <a16:creationId xmlns:a16="http://schemas.microsoft.com/office/drawing/2014/main" id="{D869C31A-7136-F98C-40F3-E05985E1E841}"/>
              </a:ext>
            </a:extLst>
          </p:cNvPr>
          <p:cNvSpPr txBox="1">
            <a:spLocks/>
          </p:cNvSpPr>
          <p:nvPr/>
        </p:nvSpPr>
        <p:spPr>
          <a:xfrm>
            <a:off x="5426355" y="5514531"/>
            <a:ext cx="1476939" cy="733869"/>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IN" sz="2000" b="1" dirty="0"/>
              <a:t>THANK YOU </a:t>
            </a:r>
          </a:p>
        </p:txBody>
      </p:sp>
    </p:spTree>
    <p:extLst>
      <p:ext uri="{BB962C8B-B14F-4D97-AF65-F5344CB8AC3E}">
        <p14:creationId xmlns:p14="http://schemas.microsoft.com/office/powerpoint/2010/main" val="118662531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{92A90874-08CC-460A-BCCC-A5C89B1FD85F}TFb5ae2469-0bae-4978-b0e0-39dd046150ff9a115ede-a9c3cc5252b0</Template>
  <TotalTime>23</TotalTime>
  <Words>432</Words>
  <Application>Microsoft Office PowerPoint</Application>
  <PresentationFormat>Widescreen</PresentationFormat>
  <Paragraphs>35</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Celestial</vt:lpstr>
      <vt:lpstr>U.S. AIRLINE PERFORMANCE &amp; DELAY ANALYSIS</vt:lpstr>
      <vt:lpstr>INTRODUCTION</vt:lpstr>
      <vt:lpstr>DATASET OVERVIEW</vt:lpstr>
      <vt:lpstr>TOOLS &amp; METHODOLOGY </vt:lpstr>
      <vt:lpstr>DASHBOARD</vt:lpstr>
      <vt:lpstr>PowerPoint Presentation</vt:lpstr>
      <vt:lpstr>KEY INSIGHTS</vt:lpstr>
      <vt:lpstr>Recommendation </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Peritosh Sinha</dc:creator>
  <cp:lastModifiedBy>Peritosh Sinha</cp:lastModifiedBy>
  <cp:revision>1</cp:revision>
  <dcterms:created xsi:type="dcterms:W3CDTF">2026-06-10T15:38:53Z</dcterms:created>
  <dcterms:modified xsi:type="dcterms:W3CDTF">2026-06-10T16:02:25Z</dcterms:modified>
</cp:coreProperties>
</file>